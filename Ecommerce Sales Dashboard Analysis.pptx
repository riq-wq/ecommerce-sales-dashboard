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24384000" cy="13716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Maharashtra</c:v>
                  </c:pt>
                  <c:pt idx="1">
                    <c:v>Madhya Pradesh</c:v>
                  </c:pt>
                  <c:pt idx="2">
                    <c:v>Uttar Pradesh</c:v>
                  </c:pt>
                  <c:pt idx="3">
                    <c:v>Delhi</c:v>
                  </c:pt>
                  <c:pt idx="4">
                    <c:v>Other States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95000</c:v>
                </c:pt>
                <c:pt idx="1">
                  <c:v>85000</c:v>
                </c:pt>
                <c:pt idx="2">
                  <c:v>45000</c:v>
                </c:pt>
                <c:pt idx="3">
                  <c:v>30000</c:v>
                </c:pt>
                <c:pt idx="4">
                  <c:v>183000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666666"/>
                </a:solidFill>
                <a:latin typeface="Arial"/>
              </a:defRPr>
            </a:pPr>
            <a:r>
              <a:rPr sz="1800" b="0" i="0" u="none" strike="noStrike">
                <a:solidFill>
                  <a:srgbClr val="666666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180000</c:v>
                </c:pt>
                <c:pt idx="1">
                  <c:v>155000</c:v>
                </c:pt>
                <c:pt idx="2">
                  <c:v>103000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666666"/>
                </a:solidFill>
                <a:latin typeface="Arial"/>
              </a:defRPr>
            </a:pPr>
            <a:r>
              <a:rPr sz="1800" b="0" i="0" u="none" strike="noStrike">
                <a:solidFill>
                  <a:srgbClr val="666666"/>
                </a:solidFill>
                <a:latin typeface="Arial"/>
              </a:rPr>
              <a:t>Profit Margin by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0F1B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</c:v>
                </c:pt>
                <c:pt idx="1">
                  <c:v>13</c:v>
                </c:pt>
                <c:pt idx="2">
                  <c:v>12.1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Printers</c:v>
                  </c:pt>
                  <c:pt idx="1">
                    <c:v>Bookcases</c:v>
                  </c:pt>
                  <c:pt idx="2">
                    <c:v>Saree</c:v>
                  </c:pt>
                  <c:pt idx="3">
                    <c:v>Accessories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18.7</c:v>
                </c:pt>
                <c:pt idx="1">
                  <c:v>14.2</c:v>
                </c:pt>
                <c:pt idx="2">
                  <c:v>8.5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B3D"/>
              </a:solidFill>
              <a:effectLst/>
            </c:spPr>
          </c:dPt>
          <c:dPt>
            <c:idx val="1"/>
            <c:bubble3D val="0"/>
            <c:spPr>
              <a:solidFill>
                <a:srgbClr val="4361EE"/>
              </a:solidFill>
              <a:effectLst/>
            </c:spPr>
          </c:dPt>
          <c:dPt>
            <c:idx val="2"/>
            <c:bubble3D val="0"/>
            <c:spPr>
              <a:solidFill>
                <a:srgbClr val="4BACC6"/>
              </a:solidFill>
              <a:effectLst/>
            </c:spPr>
          </c:dPt>
          <c:dPt>
            <c:idx val="3"/>
            <c:bubble3D val="0"/>
            <c:spPr>
              <a:solidFill>
                <a:srgbClr val="9BBB59"/>
              </a:solidFill>
              <a:effectLst/>
            </c:spPr>
          </c:dPt>
          <c:dPt>
            <c:idx val="4"/>
            <c:bubble3D val="0"/>
            <c:spPr>
              <a:solidFill>
                <a:srgbClr val="F796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COD</c:v>
                </c:pt>
                <c:pt idx="1">
                  <c:v>UPI</c:v>
                </c:pt>
                <c:pt idx="2">
                  <c:v>Debit Card</c:v>
                </c:pt>
                <c:pt idx="3">
                  <c:v>Credit Card</c:v>
                </c:pt>
                <c:pt idx="4">
                  <c:v>EMI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2640</c:v>
                </c:pt>
                <c:pt idx="1">
                  <c:v>1260</c:v>
                </c:pt>
                <c:pt idx="2">
                  <c:v>780</c:v>
                </c:pt>
                <c:pt idx="3">
                  <c:v>720</c:v>
                </c:pt>
                <c:pt idx="4">
                  <c:v>600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666666"/>
                </a:solidFill>
                <a:latin typeface="Arial"/>
              </a:defRPr>
            </a:pPr>
            <a:r>
              <a:rPr sz="1800" b="0" i="0" u="none" strike="noStrike">
                <a:solidFill>
                  <a:srgbClr val="666666"/>
                </a:solidFill>
                <a:latin typeface="Arial"/>
              </a:rPr>
              <a:t>Monthly Profit Trend 2018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Profit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</c:v>
                </c:pt>
                <c:pt idx="1">
                  <c:v>4200</c:v>
                </c:pt>
                <c:pt idx="2">
                  <c:v>3800</c:v>
                </c:pt>
                <c:pt idx="3">
                  <c:v>2800</c:v>
                </c:pt>
                <c:pt idx="4">
                  <c:v>2100</c:v>
                </c:pt>
                <c:pt idx="5">
                  <c:v>2200</c:v>
                </c:pt>
                <c:pt idx="6">
                  <c:v>2900</c:v>
                </c:pt>
                <c:pt idx="7">
                  <c:v>3100</c:v>
                </c:pt>
                <c:pt idx="8">
                  <c:v>3500</c:v>
                </c:pt>
                <c:pt idx="9">
                  <c:v>4800</c:v>
                </c:pt>
                <c:pt idx="10">
                  <c:v>5200</c:v>
                </c:pt>
                <c:pt idx="11">
                  <c:v>5600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Conservative</c:v>
                  </c:pt>
                  <c:pt idx="2">
                    <c:v>Optimistic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438</c:v>
                </c:pt>
                <c:pt idx="1">
                  <c:v>550</c:v>
                </c:pt>
                <c:pt idx="2">
                  <c:v>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(K)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Conservative</c:v>
                  </c:pt>
                  <c:pt idx="2">
                    <c:v>Optimistic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</c:v>
                </c:pt>
                <c:pt idx="1">
                  <c:v>55</c:v>
                </c:pt>
                <c:pt idx="2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49680" y="3048000"/>
            <a:ext cx="1651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ECOMMERCE</a:t>
            </a:r>
            <a:endParaRPr lang="en-US" sz="12000" dirty="0"/>
          </a:p>
          <a:p>
            <a:pPr algn="l">
              <a:lnSpc>
                <a:spcPts val="14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SALES DASHBOARD</a:t>
            </a:r>
            <a:endParaRPr lang="en-US" sz="12000" dirty="0"/>
          </a:p>
          <a:p>
            <a:pPr algn="l">
              <a:lnSpc>
                <a:spcPts val="14000"/>
              </a:lnSpc>
            </a:pPr>
            <a:r>
              <a:rPr lang="en-US" sz="12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ANALYSIS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249680" y="8382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28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 Ecommerce | 2018 Annual Report</a:t>
            </a:r>
            <a:endParaRPr lang="en-US" sz="2800" dirty="0"/>
          </a:p>
          <a:p>
            <a:pPr algn="l">
              <a:lnSpc>
                <a:spcPts val="4200"/>
              </a:lnSpc>
            </a:pPr>
            <a:r>
              <a:rPr lang="en-US" sz="28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 Hassan Jumaa | June 25, 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050000" y="14478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4000"/>
              </a:lnSpc>
            </a:pPr>
            <a:r>
              <a:rPr lang="en-US" sz="28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June 2026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27468" y="8890000"/>
            <a:ext cx="2910332" cy="2910332"/>
          </a:xfrm>
          <a:custGeom>
            <a:avLst/>
            <a:gdLst/>
            <a:ahLst/>
            <a:cxnLst/>
            <a:rect l="l" t="t" r="r" b="b"/>
            <a:pathLst>
              <a:path w="2910332" h="2910332">
                <a:moveTo>
                  <a:pt x="1455165" y="0"/>
                </a:moveTo>
                <a:lnTo>
                  <a:pt x="2910332" y="1455165"/>
                </a:lnTo>
                <a:lnTo>
                  <a:pt x="1455165" y="2910332"/>
                </a:lnTo>
                <a:lnTo>
                  <a:pt x="0" y="1455165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98880" y="3556000"/>
            <a:ext cx="1016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2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REPORT</a:t>
            </a:r>
            <a:endParaRPr lang="en-US" sz="10000" dirty="0"/>
          </a:p>
          <a:p>
            <a:pPr algn="l">
              <a:lnSpc>
                <a:spcPts val="12000"/>
              </a:lnSpc>
            </a:pPr>
            <a:r>
              <a:rPr lang="en-US" sz="10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OVERVIEW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12261850" y="1384300"/>
            <a:ext cx="0" cy="58801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7" name="Image 0" descr="https://images.unsplash.com/photo-1460925895917-afdab827c52f?w=120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682220" y="1714500"/>
            <a:ext cx="10325100" cy="551180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8900" y="7620000"/>
          <a:ext cx="21653500" cy="4572000"/>
        </p:xfrm>
        <a:graphic>
          <a:graphicData uri="http://schemas.openxmlformats.org/drawingml/2006/table">
            <a:tbl>
              <a:tblPr/>
              <a:tblGrid>
                <a:gridCol w="10826750"/>
                <a:gridCol w="10826750"/>
              </a:tblGrid>
              <a:tr h="1143000"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01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Executive Summary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02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Key Findings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03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Strategic Recommendations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04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Conclusion &amp; Next Steps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05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Financial Projections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06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Data Quality: 98/100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</a:pPr>
                      <a:r>
                        <a:rPr lang="en-US" sz="2600" b="1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07</a:t>
                      </a:r>
                      <a:pPr algn="l">
                        <a:lnSpc>
                          <a:spcPts val="3700"/>
                        </a:lnSpc>
                      </a:pPr>
                      <a:r>
                        <a:rPr lang="en-US" sz="2600" dirty="0">
                          <a:solidFill>
                            <a:srgbClr val="0F1B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Analysis Period: Jan-Dec 2018</a:t>
                      </a:r>
                      <a:endParaRPr lang="en-US" sz="2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1288049-bebda4e38f71?w=1200">    </p:cNvPr>
          <p:cNvPicPr>
            <a:picLocks noChangeAspect="1"/>
          </p:cNvPicPr>
          <p:nvPr/>
        </p:nvPicPr>
        <p:blipFill>
          <a:blip r:embed="rId1"/>
          <a:srcRect l="0" r="0"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249680" y="3403600"/>
            <a:ext cx="92964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0000" dirty="0"/>
          </a:p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EXECUTIVE</a:t>
            </a:r>
            <a:endParaRPr lang="en-US" sz="10000" dirty="0"/>
          </a:p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SUMMARY</a:t>
            </a:r>
            <a:endParaRPr lang="en-US" sz="10000" dirty="0"/>
          </a:p>
        </p:txBody>
      </p:sp>
      <p:sp>
        <p:nvSpPr>
          <p:cNvPr id="7" name="Text 4"/>
          <p:cNvSpPr/>
          <p:nvPr/>
        </p:nvSpPr>
        <p:spPr>
          <a:xfrm>
            <a:off x="1249680" y="7747000"/>
            <a:ext cx="9296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performance at a glance — revenue,</a:t>
            </a:r>
            <a:endParaRPr lang="en-US" sz="2400" dirty="0"/>
          </a:p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profit, and key operational metrics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2540000"/>
            <a:ext cx="21640800" cy="2286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778000" y="2794000"/>
            <a:ext cx="20828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8000"/>
              </a:lnSpc>
            </a:pPr>
            <a:r>
              <a:rPr lang="en-US" sz="64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ANNUAL PERFORMANCE </a:t>
            </a:r>
            <a:pPr algn="l">
              <a:lnSpc>
                <a:spcPts val="8000"/>
              </a:lnSpc>
            </a:pPr>
            <a:r>
              <a:rPr lang="en-US" sz="64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HIGHLIGHTS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1371600" y="5334000"/>
            <a:ext cx="5080000" cy="3556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5588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8000"/>
              </a:lnSpc>
            </a:pPr>
            <a:r>
              <a:rPr lang="en-US" sz="64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$437,771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371600" y="698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7620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orders</a:t>
            </a:r>
            <a:endParaRPr lang="en-US" sz="1800" dirty="0"/>
          </a:p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1,500 transactions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96100" y="5334000"/>
            <a:ext cx="5080000" cy="3556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96100" y="5588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8000"/>
              </a:lnSpc>
            </a:pPr>
            <a:r>
              <a:rPr lang="en-US" sz="64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$36,963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896100" y="698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Profit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96100" y="7620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8.4% profit margin</a:t>
            </a:r>
            <a:endParaRPr lang="en-US" sz="1800" dirty="0"/>
          </a:p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12% industry avg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420600" y="5334000"/>
            <a:ext cx="5080000" cy="3556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420600" y="5588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8000"/>
              </a:lnSpc>
            </a:pPr>
            <a:r>
              <a:rPr lang="en-US" sz="64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5,615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12420600" y="698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Units Sold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420600" y="7620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Order Value: 876</a:t>
            </a:r>
            <a:endParaRPr lang="en-US" sz="1800" dirty="0"/>
          </a:p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product categories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7945100" y="5334000"/>
            <a:ext cx="5080000" cy="3556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945100" y="5588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8000"/>
              </a:lnSpc>
            </a:pPr>
            <a:r>
              <a:rPr lang="en-US" sz="64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98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17945100" y="698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Score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945100" y="7620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 of 100</a:t>
            </a:r>
            <a:endParaRPr lang="en-US" sz="1800" dirty="0"/>
          </a:p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ready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71600" y="9398000"/>
            <a:ext cx="21640800" cy="152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778000" y="9588500"/>
            <a:ext cx="208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Solid operational performance with strong revenue generation, but significant opportunities for margin improvement and geographic expansion. Implementation of recommended strategies could increase annual profit by </a:t>
            </a:r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62-78%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12 months.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</a:t>
            </a:r>
            <a:pPr algn="l">
              <a:lnSpc>
                <a:spcPts val="6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SCOPE</a:t>
            </a:r>
            <a:pPr algn="l">
              <a:lnSpc>
                <a:spcPts val="6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&amp; DATASET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3937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Dimensions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572000"/>
          <a:ext cx="10160000" cy="3556000"/>
        </p:xfrm>
        <a:graphic>
          <a:graphicData uri="http://schemas.openxmlformats.org/drawingml/2006/table">
            <a:tbl>
              <a:tblPr/>
              <a:tblGrid>
                <a:gridCol w="3556000"/>
                <a:gridCol w="66040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Geographic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Sales across multiple Indian states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Products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categories: Clothing, Electronics, Furniture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Customers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500+ unique customer base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Payments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payment method options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Temporal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Full-year monthly and seasonal trends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371600" y="850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2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9144000"/>
          <a:ext cx="10160000" cy="2921000"/>
        </p:xfrm>
        <a:graphic>
          <a:graphicData uri="http://schemas.openxmlformats.org/drawingml/2006/table">
            <a:tbl>
              <a:tblPr/>
              <a:tblGrid>
                <a:gridCol w="4572000"/>
                <a:gridCol w="2540000"/>
                <a:gridCol w="3048000"/>
              </a:tblGrid>
              <a:tr h="48780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Details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48780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Orders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Unique customer orders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80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Revenue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438,000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 of all sales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8780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Profit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37,000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 of all profits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80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Average Order Value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876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Revenue per order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Geographic Coverage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4+ States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Indian states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12192000" y="3937000"/>
            <a:ext cx="10820400" cy="8128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2700000" y="4318000"/>
            <a:ext cx="9804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2700000" y="5080000"/>
            <a:ext cx="9804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report examines sales performance throughout 2018, encompassing </a:t>
            </a:r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orders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totaling </a:t>
            </a:r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$437,771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revenue and </a:t>
            </a:r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1,500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transaction line items.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business demonstrates solid operational performance with strong revenue generation but identifies significant opportunities for margin improvement and geographic expansion.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12700000" y="7874000"/>
            <a:ext cx="9804400" cy="0"/>
          </a:xfrm>
          <a:prstGeom prst="line">
            <a:avLst/>
          </a:prstGeom>
          <a:noFill/>
          <a:ln w="12700">
            <a:solidFill>
              <a:srgbClr val="4361E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2700000" y="8255000"/>
            <a:ext cx="98044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6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$437,771</a:t>
            </a:r>
            <a:pPr algn="l">
              <a:lnSpc>
                <a:spcPts val="36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Total Revenue</a:t>
            </a:r>
            <a:endParaRPr lang="en-US" sz="3600" dirty="0"/>
          </a:p>
          <a:p>
            <a:pPr algn="l">
              <a:lnSpc>
                <a:spcPts val="3600"/>
              </a:lnSpc>
            </a:pPr>
            <a:r>
              <a:rPr lang="en-US" sz="36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$36,963</a:t>
            </a:r>
            <a:pPr algn="l">
              <a:lnSpc>
                <a:spcPts val="36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Total Profit</a:t>
            </a:r>
            <a:endParaRPr lang="en-US" sz="3600" dirty="0"/>
          </a:p>
          <a:p>
            <a:pPr algn="l">
              <a:lnSpc>
                <a:spcPts val="3600"/>
              </a:lnSpc>
            </a:pPr>
            <a:r>
              <a:rPr lang="en-US" sz="36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8.4%</a:t>
            </a:r>
            <a:pPr algn="l">
              <a:lnSpc>
                <a:spcPts val="36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Profit Margin</a:t>
            </a:r>
            <a:endParaRPr lang="en-US" sz="3600" dirty="0"/>
          </a:p>
          <a:p>
            <a:pPr algn="l">
              <a:lnSpc>
                <a:spcPts val="3600"/>
              </a:lnSpc>
            </a:pPr>
            <a:r>
              <a:rPr lang="en-US" sz="36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98/100</a:t>
            </a:r>
            <a:pPr algn="l">
              <a:lnSpc>
                <a:spcPts val="36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Data Quality</a:t>
            </a:r>
            <a:endParaRPr lang="en-US" sz="3600" dirty="0"/>
          </a:p>
        </p:txBody>
      </p:sp>
      <p:sp>
        <p:nvSpPr>
          <p:cNvPr id="15" name="Shape 11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3877522-43269d4ea984?w=1200">    </p:cNvPr>
          <p:cNvPicPr>
            <a:picLocks noChangeAspect="1"/>
          </p:cNvPicPr>
          <p:nvPr/>
        </p:nvPicPr>
        <p:blipFill>
          <a:blip r:embed="rId1"/>
          <a:srcRect l="0" r="0"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249680" y="3403600"/>
            <a:ext cx="92964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0000" dirty="0"/>
          </a:p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</a:t>
            </a:r>
            <a:endParaRPr lang="en-US" sz="10000" dirty="0"/>
          </a:p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FINDINGS</a:t>
            </a:r>
            <a:endParaRPr lang="en-US" sz="10000" dirty="0"/>
          </a:p>
        </p:txBody>
      </p:sp>
      <p:sp>
        <p:nvSpPr>
          <p:cNvPr id="7" name="Text 4"/>
          <p:cNvSpPr/>
          <p:nvPr/>
        </p:nvSpPr>
        <p:spPr>
          <a:xfrm>
            <a:off x="1249680" y="7747000"/>
            <a:ext cx="9296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geographic, product, profit,</a:t>
            </a:r>
            <a:endParaRPr lang="en-US" sz="2400" dirty="0"/>
          </a:p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payment, and seasonal performance patterns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GEOGRAPHIC REVENUE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CONCENTRATION</a:t>
            </a:r>
            <a:endParaRPr lang="en-US" sz="4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3810000"/>
          <a:ext cx="1143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5000" y="3810000"/>
          <a:ext cx="9677400" cy="3175000"/>
        </p:xfrm>
        <a:graphic>
          <a:graphicData uri="http://schemas.openxmlformats.org/drawingml/2006/table">
            <a:tbl>
              <a:tblPr/>
              <a:tblGrid>
                <a:gridCol w="3387090"/>
                <a:gridCol w="2419350"/>
                <a:gridCol w="1935480"/>
                <a:gridCol w="193548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Revenue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Rank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Maharashtra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95,000+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22%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1st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Madhya Pradesh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85,000+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19%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2nd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Uttar Pradesh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45,000+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3rd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Delhi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30,000+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4th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3335000" y="7366000"/>
            <a:ext cx="9677400" cy="1524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13589000" y="762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4160500" y="7493000"/>
            <a:ext cx="85979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Opportunity: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Expansion into tier-2 and tier-3 cities could unlock </a:t>
            </a:r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150,000-200,000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additional annual revenue.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PRODUCT PORTFOLIO: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VOLUME VS. PROFIT</a:t>
            </a:r>
            <a:endParaRPr lang="en-US" sz="4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3810000"/>
          <a:ext cx="10795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12420600" y="3810000"/>
          <a:ext cx="105918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9017000"/>
          <a:ext cx="21640800" cy="2921000"/>
        </p:xfrm>
        <a:graphic>
          <a:graphicData uri="http://schemas.openxmlformats.org/drawingml/2006/table">
            <a:tbl>
              <a:tblPr/>
              <a:tblGrid>
                <a:gridCol w="4328160"/>
                <a:gridCol w="4328160"/>
                <a:gridCol w="3246120"/>
                <a:gridCol w="3246120"/>
                <a:gridCol w="6492240"/>
              </a:tblGrid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Revenue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Units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Margin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Strategy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Clothing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180,000 (41%)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3,780 (63%)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8.1%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Volume Driver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Electronics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155,000 (35%)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1,260 (21%)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13.0%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Profit Generator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Furniture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103,000 (24%)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1,020 (17%)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12.1%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Premium Segment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PROFIT CONCENTRATION &amp;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PAYMENT TRENDS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8100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by Sub-Category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371600" y="4445000"/>
          <a:ext cx="10795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371600" y="8763000"/>
            <a:ext cx="10795000" cy="127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651000" y="8890000"/>
            <a:ext cx="10236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Opportunity: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Shifting product mix toward high-margin items could increase overall profitability by </a:t>
            </a:r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22,000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annually while maintaining sales volume.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420600" y="3810000"/>
            <a:ext cx="10591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Method Distribution</a:t>
            </a:r>
            <a:endParaRPr lang="en-US" sz="24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12420600" y="4445000"/>
          <a:ext cx="105918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12420600" y="8763000"/>
            <a:ext cx="10591800" cy="1270000"/>
          </a:xfrm>
          <a:prstGeom prst="rect">
            <a:avLst/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2700000" y="8890000"/>
            <a:ext cx="1003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Trend: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payments (UPI + Cards + EMI) now at </a:t>
            </a:r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56%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growing. COD declining at 44%. Target: 75% digital adoption.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SEASONAL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VARIABILITY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: 115% SWING</a:t>
            </a:r>
            <a:endParaRPr lang="en-US" sz="4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3810000"/>
          <a:ext cx="1651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8415000" y="3810000"/>
            <a:ext cx="4597400" cy="5080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669000" y="4064000"/>
            <a:ext cx="4089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Seasonal Patterns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669000" y="4699000"/>
            <a:ext cx="40894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18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Year momentum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+50%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above average</a:t>
            </a:r>
            <a:endParaRPr lang="en-US" sz="1800" dirty="0"/>
          </a:p>
          <a:p>
            <a:pPr algn="l">
              <a:lnSpc>
                <a:spcPts val="28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May-June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Summer slump period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-60%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below average</a:t>
            </a:r>
            <a:endParaRPr lang="en-US" sz="1800" dirty="0"/>
          </a:p>
          <a:p>
            <a:pPr algn="l">
              <a:lnSpc>
                <a:spcPts val="28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4CAF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Oct-Dec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Festival season peak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+80%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above average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71600" y="9271000"/>
            <a:ext cx="21640800" cy="1270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778000" y="9461500"/>
            <a:ext cx="2082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Q1 and Q4 significantly outperform Q2 and Q3. December records the highest monthly profit (5,600) while May records the lowest (2,100). Plan inventory and marketing spend accordingly.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54165804606-c3d57bc86b40?w=1200">    </p:cNvPr>
          <p:cNvPicPr>
            <a:picLocks noChangeAspect="1"/>
          </p:cNvPicPr>
          <p:nvPr/>
        </p:nvPicPr>
        <p:blipFill>
          <a:blip r:embed="rId1"/>
          <a:srcRect l="0" r="0"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249680" y="2794000"/>
            <a:ext cx="92964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9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9000" dirty="0"/>
          </a:p>
          <a:p>
            <a:pPr algn="l">
              <a:lnSpc>
                <a:spcPts val="10000"/>
              </a:lnSpc>
            </a:pPr>
            <a:r>
              <a:rPr lang="en-US" sz="9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STRATEGIC</a:t>
            </a:r>
            <a:endParaRPr lang="en-US" sz="9000" dirty="0"/>
          </a:p>
          <a:p>
            <a:pPr algn="l">
              <a:lnSpc>
                <a:spcPts val="10000"/>
              </a:lnSpc>
            </a:pPr>
            <a:r>
              <a:rPr lang="en-US" sz="9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RECOMMENDATIONS</a:t>
            </a:r>
            <a:endParaRPr lang="en-US" sz="9000" dirty="0"/>
          </a:p>
        </p:txBody>
      </p:sp>
      <p:sp>
        <p:nvSpPr>
          <p:cNvPr id="7" name="Text 4"/>
          <p:cNvSpPr/>
          <p:nvPr/>
        </p:nvSpPr>
        <p:spPr>
          <a:xfrm>
            <a:off x="1249680" y="8382000"/>
            <a:ext cx="9296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prioritized strategies to improve margins,</a:t>
            </a:r>
            <a:endParaRPr lang="en-US" sz="2400" dirty="0"/>
          </a:p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 digital payments, and expand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HIGH-PRIORITY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INITIATIVES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371600" y="3810000"/>
            <a:ext cx="6985000" cy="4318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651000" y="4000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51000" y="4826000"/>
            <a:ext cx="6426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400"/>
              </a:lnSpc>
            </a:pP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Profit Margins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51000" y="5397500"/>
            <a:ext cx="6426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Current: 8.4% | Target: 12%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51000" y="5905500"/>
            <a:ext cx="6426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Negotiate supplier discounts (-2-3% COGS)</a:t>
            </a:r>
            <a:endParaRPr lang="en-US" sz="1800" dirty="0"/>
          </a:p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marketing on high-margin products</a:t>
            </a:r>
            <a:endParaRPr lang="en-US" sz="1800" dirty="0"/>
          </a:p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promotional discounting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51000" y="7239000"/>
            <a:ext cx="6426200" cy="635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778000" y="7302500"/>
            <a:ext cx="6172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 </a:t>
            </a:r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+19,300</a:t>
            </a:r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additional profit/year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99500" y="3810000"/>
            <a:ext cx="6985000" cy="4318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78900" y="4000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978900" y="4826000"/>
            <a:ext cx="6426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400"/>
              </a:lnSpc>
            </a:pP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 Digital Payments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78900" y="5397500"/>
            <a:ext cx="6426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Current: 56% | Target: 75%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78900" y="5905500"/>
            <a:ext cx="6426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 discount for digital payments</a:t>
            </a:r>
            <a:endParaRPr lang="en-US" sz="1800" dirty="0"/>
          </a:p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digital payment default at checkout</a:t>
            </a:r>
            <a:endParaRPr lang="en-US" sz="1800" dirty="0"/>
          </a:p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with payment service providers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78900" y="7239000"/>
            <a:ext cx="6426200" cy="635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05900" y="7302500"/>
            <a:ext cx="6172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 </a:t>
            </a:r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+8,000-12,000</a:t>
            </a:r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savings + cash flow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027400" y="3810000"/>
            <a:ext cx="6985000" cy="4318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306800" y="4000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6306800" y="4826000"/>
            <a:ext cx="6426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400"/>
              </a:lnSpc>
            </a:pP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Expansion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306800" y="5397500"/>
            <a:ext cx="6426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Current: 4 States | Target: 10+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306800" y="5905500"/>
            <a:ext cx="6426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5 tier-2 cities for market entry</a:t>
            </a:r>
            <a:endParaRPr lang="en-US" sz="1800" dirty="0"/>
          </a:p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local distribution partnerships</a:t>
            </a:r>
            <a:endParaRPr lang="en-US" sz="1800" dirty="0"/>
          </a:p>
          <a:p>
            <a:pPr algn="l" marL="285750" indent="-285750">
              <a:lnSpc>
                <a:spcPts val="26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Customize offerings for regional preferences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6306800" y="7239000"/>
            <a:ext cx="6426200" cy="635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6433800" y="7302500"/>
            <a:ext cx="6172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 </a:t>
            </a:r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+150K-200K</a:t>
            </a:r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potential revenue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71600" y="8509000"/>
            <a:ext cx="21640800" cy="762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651000" y="8572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Priority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9398000"/>
          <a:ext cx="21640800" cy="2540000"/>
        </p:xfrm>
        <a:graphic>
          <a:graphicData uri="http://schemas.openxmlformats.org/drawingml/2006/table">
            <a:tbl>
              <a:tblPr/>
              <a:tblGrid>
                <a:gridCol w="10820400"/>
                <a:gridCol w="10820400"/>
              </a:tblGrid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Customer Retention Program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Current: 35% repeat rate | Target: 55% | </a:t>
                      </a:r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+12,000 revenue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High-Margin Product Focus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Goal: 13% to 30% high-margin mix | </a:t>
                      </a:r>
                      <a:pPr algn="l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+22,000 profit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Seasonal Inventory Optimization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Align stock with Q1/Q4 peaks and Q2/Q3 troughs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90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FINANCIAL PROJECTIONS: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37% REVENUE GROWTH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810000"/>
          <a:ext cx="11430000" cy="3556000"/>
        </p:xfrm>
        <a:graphic>
          <a:graphicData uri="http://schemas.openxmlformats.org/drawingml/2006/table">
            <a:tbl>
              <a:tblPr/>
              <a:tblGrid>
                <a:gridCol w="3429000"/>
                <a:gridCol w="2628900"/>
                <a:gridCol w="3086100"/>
                <a:gridCol w="22860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Current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Conservative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Optimistic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Revenue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438K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550K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600K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Profit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37K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55K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66K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Margin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8.4%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10.0%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11.0%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Change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+25%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+37%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13335000" y="3810000"/>
          <a:ext cx="96774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1371600" y="7747000"/>
            <a:ext cx="21640800" cy="1778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778000" y="793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400"/>
              </a:lnSpc>
            </a:pPr>
            <a:r>
              <a:rPr lang="en-US" sz="26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on Investment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1778000" y="8509000"/>
            <a:ext cx="208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Required: </a:t>
            </a:r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120,000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|   Year 1 Profit Gain: </a:t>
            </a:r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+29,000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|   Year 1 ROI: </a:t>
            </a:r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70%+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|   Year 2+ Annual Benefit: </a:t>
            </a:r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+45,000+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1371600" y="9906000"/>
            <a:ext cx="21640800" cy="101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778000" y="10033000"/>
            <a:ext cx="208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6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Assumptions:</a:t>
            </a:r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Conservative scenario assumes 60% implementation effectiveness | Optimistic assumes 100% effectiveness | Both scenarios include all 5 recommendations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86406146926-c627a92ad1ab?w=1200">    </p:cNvPr>
          <p:cNvPicPr>
            <a:picLocks noChangeAspect="1"/>
          </p:cNvPicPr>
          <p:nvPr/>
        </p:nvPicPr>
        <p:blipFill>
          <a:blip r:embed="rId1"/>
          <a:srcRect l="0" r="0"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249680" y="3403600"/>
            <a:ext cx="92964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0000" dirty="0"/>
          </a:p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CONCLUSION</a:t>
            </a:r>
            <a:endParaRPr lang="en-US" sz="10000" dirty="0"/>
          </a:p>
          <a:p>
            <a:pPr algn="l">
              <a:lnSpc>
                <a:spcPts val="11000"/>
              </a:lnSpc>
            </a:pP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&amp; NEXT STEPS</a:t>
            </a:r>
            <a:endParaRPr lang="en-US" sz="10000" dirty="0"/>
          </a:p>
        </p:txBody>
      </p:sp>
      <p:sp>
        <p:nvSpPr>
          <p:cNvPr id="7" name="Text 4"/>
          <p:cNvSpPr/>
          <p:nvPr/>
        </p:nvSpPr>
        <p:spPr>
          <a:xfrm>
            <a:off x="1249680" y="7747000"/>
            <a:ext cx="9296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health assessment and</a:t>
            </a:r>
            <a:endParaRPr lang="en-US" sz="2400" dirty="0"/>
          </a:p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direction forward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22500" y="1643634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Madhav</a:t>
            </a:r>
            <a:endParaRPr lang="en-US" sz="2600" dirty="0"/>
          </a:p>
          <a:p>
            <a:pPr algn="l">
              <a:lnSpc>
                <a:spcPts val="2800"/>
              </a:lnSpc>
            </a:pPr>
            <a:r>
              <a:rPr lang="en-US" sz="2600" spc="-100" kern="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667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5200"/>
              </a:lnSpc>
            </a:pPr>
            <a:r>
              <a:rPr lang="en-US" sz="4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HEALTH: </a:t>
            </a:r>
            <a:pPr algn="l">
              <a:lnSpc>
                <a:spcPts val="52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GOOD FOUNDATION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81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Assessment Ratings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4508500"/>
            <a:ext cx="5080000" cy="1524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51000" y="46355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7/10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048000" y="4635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Health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48000" y="508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1000" y="5524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Solid fundamentals, room to improve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96100" y="4508500"/>
            <a:ext cx="5080000" cy="1524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75500" y="46355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9/10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572500" y="4635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Potential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72500" y="508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5500" y="5524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expansion levers available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20600" y="4508500"/>
            <a:ext cx="5080000" cy="1524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700000" y="46355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4800" dirty="0">
                <a:solidFill>
                  <a:srgbClr val="C0504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6/10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4097000" y="4635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097000" y="508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Needs Improvement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700000" y="5524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8.4% vs 12% industry average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7945100" y="4508500"/>
            <a:ext cx="5080000" cy="1524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8224500" y="46355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8/10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9621500" y="4635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Readiness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621500" y="508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for Scaling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24500" y="5524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and data in place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647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Strengths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71600" y="7112000"/>
            <a:ext cx="10160000" cy="254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51000" y="7302500"/>
            <a:ext cx="9601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revenue generation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$437,771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annually)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Diversified product portfolio reducing risk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customer base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customers)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 digital payment adoption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56%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high-margin product opportunities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420600" y="647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Areas for Improvement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2420600" y="7112000"/>
            <a:ext cx="10591800" cy="254000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700000" y="7302500"/>
            <a:ext cx="10033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margins below industry average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8.4% vs 12%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concentration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41%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2 states)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volatility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115%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swing best/worst)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customer repeat rate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35%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COD dependency (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44%</a:t>
            </a:r>
            <a:pPr algn="l">
              <a:lnSpc>
                <a:spcPts val="3200"/>
              </a:lnSpc>
              <a:spcBef>
                <a:spcPts val="10"/>
              </a:spcBef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371600" y="10033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Strategic Pillars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371600" y="10668000"/>
            <a:ext cx="4064000" cy="1016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98600" y="1079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</a:t>
            </a:r>
            <a:endParaRPr lang="en-US" sz="1800" dirty="0"/>
          </a:p>
          <a:p>
            <a:pPr algn="ctr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689600" y="10668000"/>
            <a:ext cx="4064000" cy="1016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16600" y="1079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</a:t>
            </a:r>
            <a:endParaRPr lang="en-US" sz="1800" dirty="0"/>
          </a:p>
          <a:p>
            <a:pPr algn="ctr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007600" y="10668000"/>
            <a:ext cx="4064000" cy="10160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134600" y="1079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</a:t>
            </a:r>
            <a:endParaRPr lang="en-US" sz="1800" dirty="0"/>
          </a:p>
          <a:p>
            <a:pPr algn="ctr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325600" y="10668000"/>
            <a:ext cx="4064000" cy="1016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4452600" y="1079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</a:t>
            </a:r>
            <a:endParaRPr lang="en-US" sz="1800" dirty="0"/>
          </a:p>
          <a:p>
            <a:pPr algn="ctr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8643600" y="10668000"/>
            <a:ext cx="4368800" cy="101600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8770600" y="10795000"/>
            <a:ext cx="411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</a:t>
            </a:r>
            <a:endParaRPr lang="en-US" sz="1800" dirty="0"/>
          </a:p>
          <a:p>
            <a:pPr algn="ctr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4500" y="3175000"/>
            <a:ext cx="1841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000"/>
              </a:lnSpc>
            </a:pPr>
            <a:r>
              <a:rPr lang="en-US" sz="14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READY TO </a:t>
            </a:r>
            <a:pPr algn="ctr">
              <a:lnSpc>
                <a:spcPts val="17000"/>
              </a:lnSpc>
            </a:pPr>
            <a:r>
              <a:rPr lang="en-US" sz="1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SCALE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114800" y="6858000"/>
            <a:ext cx="16154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recommended strategies immediately for</a:t>
            </a:r>
            <a:endParaRPr lang="en-US" sz="2400" dirty="0"/>
          </a:p>
          <a:p>
            <a:pPr algn="ctr">
              <a:lnSpc>
                <a:spcPts val="3600"/>
              </a:lnSpc>
            </a:pPr>
            <a:r>
              <a:rPr lang="en-US" sz="24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37% revenue growth</a:t>
            </a:r>
            <a:pPr algn="ctr">
              <a:lnSpc>
                <a:spcPts val="3600"/>
              </a:lnSpc>
            </a:pPr>
            <a:r>
              <a:rPr lang="en-US" sz="24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ts val="3600"/>
              </a:lnSpc>
            </a:pPr>
            <a:r>
              <a:rPr lang="en-US" sz="2400" b="1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 profit growth</a:t>
            </a:r>
            <a:pPr algn="ctr">
              <a:lnSpc>
                <a:spcPts val="3600"/>
              </a:lnSpc>
            </a:pPr>
            <a:r>
              <a:rPr lang="en-US" sz="24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12 months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40200" y="3048000"/>
            <a:ext cx="16103600" cy="0"/>
          </a:xfrm>
          <a:prstGeom prst="line">
            <a:avLst/>
          </a:prstGeom>
          <a:noFill/>
          <a:ln w="25400">
            <a:solidFill>
              <a:srgbClr val="4361E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40200" y="8890000"/>
            <a:ext cx="16103600" cy="0"/>
          </a:xfrm>
          <a:prstGeom prst="line">
            <a:avLst/>
          </a:prstGeom>
          <a:noFill/>
          <a:ln w="25400">
            <a:solidFill>
              <a:srgbClr val="4361E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80000" y="9271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000"/>
              </a:lnSpc>
            </a:pPr>
            <a:r>
              <a:rPr lang="en-US" sz="20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Status: Complete | Data Quality: 98/100 | Confidence Level: High</a:t>
            </a:r>
            <a:endParaRPr lang="en-US" sz="2000" dirty="0"/>
          </a:p>
          <a:p>
            <a:pPr algn="ctr">
              <a:lnSpc>
                <a:spcPts val="3000"/>
              </a:lnSpc>
            </a:pPr>
            <a:r>
              <a:rPr lang="en-US" sz="20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 Hassan Jumaa | June 25,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61800" y="10795000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Dashboard Analysis</dc:title>
  <dc:subject>Ecommerce Sales Dashboard Analysis</dc:subject>
  <dc:creator>Kimi</dc:creator>
  <cp:lastModifiedBy>Kimi</cp:lastModifiedBy>
  <cp:revision>1</cp:revision>
  <dcterms:created xsi:type="dcterms:W3CDTF">2026-07-01T07:10:52Z</dcterms:created>
  <dcterms:modified xsi:type="dcterms:W3CDTF">2026-07-01T07:10:52Z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{"Label":"Ecommerce Sales Dashboard Analysis","ContentProducer":"001191110108MACG2KBH8F10000","ProduceID":"19f1c6ad-aa92-835f-8000-00009dab22f2","ReservedCode1":"","ContentPropagator":"001191110108MACG2KBH8F20000","PropagateID":"19f1c681-fca2-8254-8000-0954f2e2282e","ReservedCode2":""}</vt:lpwstr>
  </property>
</Properties>
</file>